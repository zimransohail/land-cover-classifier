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98D8A2B-B2B9-38BA-9F6D-DD077320C147}">
          <p14:sldIdLst>
            <p14:sldId id="256"/>
            <p14:sldId id="257"/>
          </p14:sldIdLst>
        </p14:section>
        <p14:section name="Data" id="{7DDC6275-61BF-B974-FEA9-8B070C05DA6B}">
          <p14:sldIdLst>
            <p14:sldId id="258"/>
            <p14:sldId id="259"/>
            <p14:sldId id="260"/>
          </p14:sldIdLst>
        </p14:section>
        <p14:section name="Model" id="{0238B46F-E858-B24F-4AB4-2CE22D7DA62B}">
          <p14:sldIdLst>
            <p14:sldId id="261"/>
          </p14:sldIdLst>
        </p14:section>
        <p14:section name="Evaluation" id="{5DB3A795-2E74-1CBA-1139-6876B02F9049}">
          <p14:sldIdLst>
            <p14:sldId id="262"/>
            <p14:sldId id="263"/>
          </p14:sldIdLst>
        </p14:section>
        <p14:section name="Application" id="{662F1B37-A428-9347-7E6E-FA2ABE50FF31}">
          <p14:sldIdLst>
            <p14:sldId id="264"/>
          </p14:sldIdLst>
        </p14:section>
        <p14:section name="Conclusion" id="{C30304A9-0DC8-9967-ACC4-3582C0428FA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validation accuracy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ResNet-18 (Scratch)</c:v>
                </c:pt>
                <c:pt idx="1">
                  <c:v>ResNet-18 (Frozen Pretrained)</c:v>
                </c:pt>
                <c:pt idx="2">
                  <c:v>ResNet-18 (Fine-tuned Pretrained)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92.8</c:v>
                </c:pt>
                <c:pt idx="1">
                  <c:v>95.37</c:v>
                </c:pt>
                <c:pt idx="2">
                  <c:v>95.91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29-4A05-B3CF-596C65D2BB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ResNet-18 (Scratch)</c:v>
                </c:pt>
                <c:pt idx="1">
                  <c:v>ResNet-18 (Frozen Pretrained)</c:v>
                </c:pt>
                <c:pt idx="2">
                  <c:v>ResNet-18 (Fine-tuned Pretrained)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95.1</c:v>
                </c:pt>
                <c:pt idx="1">
                  <c:v>95.37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29-4A05-B3CF-596C65D2BB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4C2D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9525" cap="flat">
              <a:solidFill>
                <a:srgbClr val="2B417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4C2D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+mn-lt"/>
              </a:rPr>
              <a:t>Class-wise F1-score (axis starts at 90%)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Built-up</c:v>
                </c:pt>
                <c:pt idx="1">
                  <c:v>Bare / Sparse Vegetation</c:v>
                </c:pt>
                <c:pt idx="2">
                  <c:v>Permanent Water</c:v>
                </c:pt>
                <c:pt idx="3">
                  <c:v>Tree Cover</c:v>
                </c:pt>
                <c:pt idx="4">
                  <c:v>Cropland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99.27</c:v>
                </c:pt>
                <c:pt idx="1">
                  <c:v>98.73</c:v>
                </c:pt>
                <c:pt idx="2">
                  <c:v>98.11</c:v>
                </c:pt>
                <c:pt idx="3">
                  <c:v>94.89</c:v>
                </c:pt>
                <c:pt idx="4">
                  <c:v>93.71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85-43B4-A952-2EDE32F07A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C2D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t"/>
        <c:majorGridlines>
          <c:spPr>
            <a:ln w="9525" cap="flat">
              <a:solidFill>
                <a:srgbClr val="2B417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4C2D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568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126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520440"/>
            <a:ext cx="5943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556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Satellite-Based Land-Cover Classification Using Transfer Learning  ·  Zimran Sohail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github.com/ZimranSohail/Land-Cover-Classifi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atellite-landcover-classifier.streamlit.app/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atellite-landcover-classifier.streamlit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rive.google.com/drive/folders/1pbd0O_leqiqgH5Fl_mIwgITlKaM3ycgP?usp=sharing" TargetMode="External"/><Relationship Id="rId5" Type="http://schemas.openxmlformats.org/officeDocument/2006/relationships/hyperlink" Target="https://www.kaggle.com/datasets/zimransohail/satellite-land-cover-classification" TargetMode="External"/><Relationship Id="rId4" Type="http://schemas.openxmlformats.org/officeDocument/2006/relationships/hyperlink" Target="https://github.com/ZimranSohail/Land-Cover-Classifi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126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Satellite-Based Land-Cover Classification Using Transfer Learning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520440"/>
            <a:ext cx="5046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A Deep Learning Approach Using Sentinel-2 Satellite </a:t>
            </a:r>
          </a:p>
          <a:p>
            <a:pPr marL="0" indent="0" algn="l">
              <a:buNone/>
            </a:pPr>
            <a:r>
              <a:rPr lang="en-US" sz="1800" dirty="0">
                <a:solidFill>
                  <a:schemeClr val="accent1"/>
                </a:solidFill>
              </a:rPr>
              <a:t>Imagery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572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PRESENTED BY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Zimran Sohail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13892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DEGREE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BS Computer Science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7058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PROJECT DOMAIN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Machine Learning / Computer Vision</a:t>
            </a:r>
            <a:endParaRPr lang="en-US" sz="1400" dirty="0"/>
          </a:p>
        </p:txBody>
      </p:sp>
      <p:sp>
        <p:nvSpPr>
          <p:cNvPr id="7" name="Placeholder – Title satellite image"/>
          <p:cNvSpPr/>
          <p:nvPr/>
        </p:nvSpPr>
        <p:spPr>
          <a:xfrm>
            <a:off x="5887453" y="2150524"/>
            <a:ext cx="6001191" cy="3806792"/>
          </a:xfrm>
          <a:prstGeom prst="roundRect">
            <a:avLst>
              <a:gd name="adj" fmla="val 1656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02  ·  PROBLEM STATEMENT AND MOTIVATION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Understanding Land Cover Through Satellite Imagery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Land-cover classification involves identifying and categorizing the physical material present on the Earth's surface using remotely sensed imagery.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Traditional approaches to land-cover identification can require extensive manual interpretation and are difficult to scale across large geographical areas.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 motivation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85032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Satellite imagery provides large-scale Earth observation data.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Automated classification can help process imagery more efficiently.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Deep learning can learn visual patterns from satellite images.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Transfer learning can leverage previously learned image features.</a:t>
            </a:r>
            <a:endParaRPr lang="en-US" sz="1400" dirty="0"/>
          </a:p>
        </p:txBody>
      </p:sp>
      <p:sp>
        <p:nvSpPr>
          <p:cNvPr id="8" name="Card – Project objective"/>
          <p:cNvSpPr/>
          <p:nvPr/>
        </p:nvSpPr>
        <p:spPr>
          <a:xfrm>
            <a:off x="548640" y="5166360"/>
            <a:ext cx="658368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5276088"/>
            <a:ext cx="6126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PROJECT OBJECTIVE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To develop a deep learning-based system that classifies Sentinel-2 satellite image patches into five land-cover categories using transfer learning.</a:t>
            </a:r>
            <a:endParaRPr lang="en-US" sz="1400" dirty="0"/>
          </a:p>
        </p:txBody>
      </p:sp>
      <p:sp>
        <p:nvSpPr>
          <p:cNvPr id="10" name="Placeholder – Problem satellite image"/>
          <p:cNvSpPr/>
          <p:nvPr/>
        </p:nvSpPr>
        <p:spPr>
          <a:xfrm>
            <a:off x="7498080" y="1463040"/>
            <a:ext cx="4142232" cy="2057400"/>
          </a:xfrm>
          <a:prstGeom prst="roundRect">
            <a:avLst>
              <a:gd name="adj" fmla="val 3556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Flow node 1"/>
          <p:cNvSpPr/>
          <p:nvPr/>
        </p:nvSpPr>
        <p:spPr>
          <a:xfrm>
            <a:off x="7498080" y="3749040"/>
            <a:ext cx="4142232" cy="621792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Satellite Imag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87705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229600" y="3749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Satellite Image</a:t>
            </a:r>
            <a:endParaRPr lang="en-US" sz="1600" dirty="0"/>
          </a:p>
        </p:txBody>
      </p:sp>
      <p:sp>
        <p:nvSpPr>
          <p:cNvPr id="16" name="Flow arrow 1"/>
          <p:cNvSpPr/>
          <p:nvPr/>
        </p:nvSpPr>
        <p:spPr>
          <a:xfrm>
            <a:off x="9418320" y="4389120"/>
            <a:ext cx="274320" cy="228600"/>
          </a:xfrm>
          <a:prstGeom prst="down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Flow node 2"/>
          <p:cNvSpPr/>
          <p:nvPr/>
        </p:nvSpPr>
        <p:spPr>
          <a:xfrm>
            <a:off x="7498080" y="4636008"/>
            <a:ext cx="4142232" cy="621792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Deep Learning Model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476402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46360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Deep Learning Model</a:t>
            </a:r>
            <a:endParaRPr lang="en-US" sz="1600" dirty="0"/>
          </a:p>
        </p:txBody>
      </p:sp>
      <p:sp>
        <p:nvSpPr>
          <p:cNvPr id="20" name="Flow arrow 2"/>
          <p:cNvSpPr/>
          <p:nvPr/>
        </p:nvSpPr>
        <p:spPr>
          <a:xfrm>
            <a:off x="9418320" y="5276088"/>
            <a:ext cx="274320" cy="228600"/>
          </a:xfrm>
          <a:prstGeom prst="down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Flow node 3"/>
          <p:cNvSpPr/>
          <p:nvPr/>
        </p:nvSpPr>
        <p:spPr>
          <a:xfrm>
            <a:off x="7498080" y="5522976"/>
            <a:ext cx="4142232" cy="621792"/>
          </a:xfrm>
          <a:prstGeom prst="roundRect">
            <a:avLst>
              <a:gd name="adj" fmla="val 1764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Land-Cover Categor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65099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229600" y="552297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Land-Cover Category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03  ·  DATASET AND DATA SOURCES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Dataset Overview</a:t>
            </a:r>
            <a:endParaRPr lang="en-US" sz="3000" dirty="0"/>
          </a:p>
        </p:txBody>
      </p:sp>
      <p:sp>
        <p:nvSpPr>
          <p:cNvPr id="4" name="Stat – Total image patches"/>
          <p:cNvSpPr/>
          <p:nvPr/>
        </p:nvSpPr>
        <p:spPr>
          <a:xfrm>
            <a:off x="548640" y="146304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2,500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Total image patches</a:t>
            </a:r>
            <a:endParaRPr lang="en-US" sz="1200" dirty="0"/>
          </a:p>
        </p:txBody>
      </p:sp>
      <p:sp>
        <p:nvSpPr>
          <p:cNvPr id="7" name="Stat – Land-cover classes"/>
          <p:cNvSpPr/>
          <p:nvPr/>
        </p:nvSpPr>
        <p:spPr>
          <a:xfrm>
            <a:off x="2240280" y="146304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331720" y="1554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Land-cover classes</a:t>
            </a:r>
            <a:endParaRPr lang="en-US" sz="1200" dirty="0"/>
          </a:p>
        </p:txBody>
      </p:sp>
      <p:sp>
        <p:nvSpPr>
          <p:cNvPr id="10" name="Stat – Images per class"/>
          <p:cNvSpPr/>
          <p:nvPr/>
        </p:nvSpPr>
        <p:spPr>
          <a:xfrm>
            <a:off x="3931920" y="146304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023360" y="1554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Images per class</a:t>
            </a:r>
            <a:endParaRPr lang="en-US" sz="1200" dirty="0"/>
          </a:p>
        </p:txBody>
      </p:sp>
      <p:sp>
        <p:nvSpPr>
          <p:cNvPr id="13" name="Stat – Native spatial resolution"/>
          <p:cNvSpPr/>
          <p:nvPr/>
        </p:nvSpPr>
        <p:spPr>
          <a:xfrm>
            <a:off x="5623560" y="1463040"/>
            <a:ext cx="15087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715000" y="15544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m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Native spatial resolution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Dataset sources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1071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Sentinel-2 satellite imagery.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ESA WorldCover land-cover maps.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062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Image information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53712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RGB imagery constructed using Sentinel-2 bands: B4 (Red), B3 (Green), B2 (Blue).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Native spatial resolution: 10 metres.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Each image patch represents approximately 640 m × 640 m of ground area.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974F9E4-5E23-F74E-0E58-27E6E2ED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01298"/>
            <a:ext cx="4575348" cy="4218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04  ·  LAND-COVER CATEGORIES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Five Land-Cover Classes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dataset contains five categories based on ESA WorldCover class labels.</a:t>
            </a:r>
            <a:endParaRPr lang="en-US" sz="1400" dirty="0"/>
          </a:p>
        </p:txBody>
      </p:sp>
      <p:sp>
        <p:nvSpPr>
          <p:cNvPr id="5" name="Card – Class 10"/>
          <p:cNvSpPr/>
          <p:nvPr/>
        </p:nvSpPr>
        <p:spPr>
          <a:xfrm>
            <a:off x="548640" y="1691640"/>
            <a:ext cx="2103120" cy="4160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laceholder – Class 10 patch"/>
          <p:cNvSpPr/>
          <p:nvPr/>
        </p:nvSpPr>
        <p:spPr>
          <a:xfrm>
            <a:off x="658368" y="1801368"/>
            <a:ext cx="1883664" cy="2011680"/>
          </a:xfrm>
          <a:prstGeom prst="roundRect">
            <a:avLst>
              <a:gd name="adj" fmla="val 388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8580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ADE80"/>
                </a:solidFill>
              </a:rPr>
              <a:t>10 – </a:t>
            </a:r>
            <a:r>
              <a:rPr lang="en-US" sz="1700" b="1" dirty="0">
                <a:solidFill>
                  <a:schemeClr val="bg1"/>
                </a:solidFill>
              </a:rPr>
              <a:t>Tree Cover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663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Areas dominated by trees and forest vegetation.</a:t>
            </a:r>
            <a:endParaRPr lang="en-US" sz="1400" dirty="0"/>
          </a:p>
        </p:txBody>
      </p:sp>
      <p:sp>
        <p:nvSpPr>
          <p:cNvPr id="11" name="Card – Class 40"/>
          <p:cNvSpPr/>
          <p:nvPr/>
        </p:nvSpPr>
        <p:spPr>
          <a:xfrm>
            <a:off x="2834640" y="1691640"/>
            <a:ext cx="2103120" cy="4160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Placeholder – Class 40 patch"/>
          <p:cNvSpPr/>
          <p:nvPr/>
        </p:nvSpPr>
        <p:spPr>
          <a:xfrm>
            <a:off x="2944368" y="1801368"/>
            <a:ext cx="1883664" cy="2011680"/>
          </a:xfrm>
          <a:prstGeom prst="roundRect">
            <a:avLst>
              <a:gd name="adj" fmla="val 3883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97180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5B842"/>
                </a:solidFill>
              </a:rPr>
              <a:t>40 – </a:t>
            </a:r>
            <a:r>
              <a:rPr lang="en-US" sz="1700" b="1" dirty="0">
                <a:solidFill>
                  <a:schemeClr val="bg1"/>
                </a:solidFill>
              </a:rPr>
              <a:t>Cropland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2971800" y="4663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Agricultural and cultivated land.</a:t>
            </a:r>
            <a:endParaRPr lang="en-US" sz="1400" dirty="0"/>
          </a:p>
        </p:txBody>
      </p:sp>
      <p:sp>
        <p:nvSpPr>
          <p:cNvPr id="17" name="Card – Class 50"/>
          <p:cNvSpPr/>
          <p:nvPr/>
        </p:nvSpPr>
        <p:spPr>
          <a:xfrm>
            <a:off x="5120640" y="1691640"/>
            <a:ext cx="2103120" cy="4160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laceholder – Class 50 patch"/>
          <p:cNvSpPr/>
          <p:nvPr/>
        </p:nvSpPr>
        <p:spPr>
          <a:xfrm>
            <a:off x="5230368" y="1801368"/>
            <a:ext cx="1883664" cy="2011680"/>
          </a:xfrm>
          <a:prstGeom prst="roundRect">
            <a:avLst>
              <a:gd name="adj" fmla="val 3883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525780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</a:rPr>
              <a:t>50 – </a:t>
            </a:r>
            <a:r>
              <a:rPr lang="en-US" sz="1700" b="1" dirty="0">
                <a:solidFill>
                  <a:schemeClr val="bg1"/>
                </a:solidFill>
              </a:rPr>
              <a:t>Built-up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5257800" y="4663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Urban and constructed environments.</a:t>
            </a:r>
            <a:endParaRPr lang="en-US" sz="1400" dirty="0"/>
          </a:p>
        </p:txBody>
      </p:sp>
      <p:sp>
        <p:nvSpPr>
          <p:cNvPr id="23" name="Card – Class 60"/>
          <p:cNvSpPr/>
          <p:nvPr/>
        </p:nvSpPr>
        <p:spPr>
          <a:xfrm>
            <a:off x="7406640" y="1691640"/>
            <a:ext cx="2103120" cy="4160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Placeholder – Class 60 patch"/>
          <p:cNvSpPr/>
          <p:nvPr/>
        </p:nvSpPr>
        <p:spPr>
          <a:xfrm>
            <a:off x="7516368" y="1801368"/>
            <a:ext cx="1883664" cy="2011680"/>
          </a:xfrm>
          <a:prstGeom prst="roundRect">
            <a:avLst>
              <a:gd name="adj" fmla="val 3883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 txBox="1"/>
          <p:nvPr/>
        </p:nvSpPr>
        <p:spPr>
          <a:xfrm>
            <a:off x="754380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8A27C"/>
                </a:solidFill>
              </a:rPr>
              <a:t>60 – </a:t>
            </a:r>
            <a:r>
              <a:rPr lang="en-US" sz="1700" b="1" dirty="0">
                <a:solidFill>
                  <a:schemeClr val="bg1"/>
                </a:solidFill>
              </a:rPr>
              <a:t>Bare / Sparse Vegetation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7543800" y="4663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Bare ground and areas with sparse vegetation.</a:t>
            </a:r>
            <a:endParaRPr lang="en-US" sz="1400" dirty="0"/>
          </a:p>
        </p:txBody>
      </p:sp>
      <p:sp>
        <p:nvSpPr>
          <p:cNvPr id="29" name="Card – Class 80"/>
          <p:cNvSpPr/>
          <p:nvPr/>
        </p:nvSpPr>
        <p:spPr>
          <a:xfrm>
            <a:off x="9692640" y="1691640"/>
            <a:ext cx="2103120" cy="41605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Placeholder – Class 80 patch"/>
          <p:cNvSpPr/>
          <p:nvPr/>
        </p:nvSpPr>
        <p:spPr>
          <a:xfrm>
            <a:off x="9802368" y="1801368"/>
            <a:ext cx="1883664" cy="2011680"/>
          </a:xfrm>
          <a:prstGeom prst="roundRect">
            <a:avLst>
              <a:gd name="adj" fmla="val 3883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9829800" y="39502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</a:rPr>
              <a:t>80 – </a:t>
            </a:r>
            <a:r>
              <a:rPr lang="en-US" sz="1700" b="1" dirty="0">
                <a:solidFill>
                  <a:schemeClr val="bg1"/>
                </a:solidFill>
              </a:rPr>
              <a:t>Permanent Water</a:t>
            </a:r>
            <a:endParaRPr lang="en-US" sz="1700" dirty="0"/>
          </a:p>
        </p:txBody>
      </p:sp>
      <p:sp>
        <p:nvSpPr>
          <p:cNvPr id="34" name="Text 27"/>
          <p:cNvSpPr txBox="1"/>
          <p:nvPr/>
        </p:nvSpPr>
        <p:spPr>
          <a:xfrm>
            <a:off x="9829800" y="4663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Water bodies such as lakes and rivers.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05  ·  DATASET PREPARATION AND VERSIONS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Dataset Preparation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Dataset construction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Selected image patches using ESA WorldCover labels.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Minimum class purity threshold: 70%.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Minimum centre-to-centre distance between selected locations: approximately 640 metres.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Geographic grouping and a canonical split manifest were used.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Each class contains 500 image patches.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Three dataset configurations</a:t>
            </a:r>
            <a:endParaRPr lang="en-US" sz="1800" dirty="0"/>
          </a:p>
        </p:txBody>
      </p:sp>
      <p:graphicFrame>
        <p:nvGraphicFramePr>
          <p:cNvPr id="7" name="Table – Dataset vers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5486400" cy="16459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Dataset version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Image dimensions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Original version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64 × 64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Higher-resolution version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128 × 128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Aligned version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128 × 128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Placeholder – 64×64 sample"/>
          <p:cNvSpPr/>
          <p:nvPr/>
        </p:nvSpPr>
        <p:spPr>
          <a:xfrm>
            <a:off x="6400800" y="1481328"/>
            <a:ext cx="2560320" cy="2011680"/>
          </a:xfrm>
          <a:prstGeom prst="roundRect">
            <a:avLst>
              <a:gd name="adj" fmla="val 3636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551676" y="93268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Same location at 64 × 64</a:t>
            </a:r>
            <a:endParaRPr lang="en-US" sz="1400" dirty="0"/>
          </a:p>
        </p:txBody>
      </p:sp>
      <p:sp>
        <p:nvSpPr>
          <p:cNvPr id="11" name="Placeholder – 128×128 sample"/>
          <p:cNvSpPr/>
          <p:nvPr/>
        </p:nvSpPr>
        <p:spPr>
          <a:xfrm>
            <a:off x="9079992" y="1463040"/>
            <a:ext cx="2560320" cy="2011680"/>
          </a:xfrm>
          <a:prstGeom prst="roundRect">
            <a:avLst>
              <a:gd name="adj" fmla="val 3636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9111996" y="93268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Same location at 128 × 128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356616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Comparison of image representations at different input dimensions.</a:t>
            </a:r>
            <a:endParaRPr lang="en-US" sz="1200" dirty="0"/>
          </a:p>
        </p:txBody>
      </p:sp>
      <p:sp>
        <p:nvSpPr>
          <p:cNvPr id="15" name="Callout – Technical note"/>
          <p:cNvSpPr/>
          <p:nvPr/>
        </p:nvSpPr>
        <p:spPr>
          <a:xfrm>
            <a:off x="6400800" y="4069080"/>
            <a:ext cx="5239512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6583680" y="4178808"/>
            <a:ext cx="48737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kern="0" spc="200" dirty="0">
                <a:solidFill>
                  <a:schemeClr val="accent3"/>
                </a:solidFill>
              </a:rPr>
              <a:t>IMPORTANT TECHNICAL NOTE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128×128 images are resampled versions, not additional native spatial detail. Sentinel-2 imagery retains its native 10 m spatial resolution.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The 64×64 and 128×128 aligned datasets share the same geographical locations, class labels, purity values, geographic groups, and train/validation/test assignments.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06  ·  TRAINING AND EVALUATION METHODOLOGY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Deep Learning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Model architecture: </a:t>
            </a:r>
            <a:r>
              <a:rPr lang="en-US" sz="1600" b="1" dirty="0">
                <a:solidFill>
                  <a:schemeClr val="accent1"/>
                </a:solidFill>
              </a:rPr>
              <a:t>ResNet-18</a:t>
            </a:r>
            <a:r>
              <a:rPr lang="en-US" sz="1600" dirty="0">
                <a:solidFill>
                  <a:schemeClr val="bg2"/>
                </a:solidFill>
              </a:rPr>
              <a:t>   ·   Three model configurations were evaluated:</a:t>
            </a:r>
            <a:endParaRPr lang="en-US" sz="1600" dirty="0"/>
          </a:p>
        </p:txBody>
      </p:sp>
      <p:sp>
        <p:nvSpPr>
          <p:cNvPr id="5" name="Card – Model 1"/>
          <p:cNvSpPr/>
          <p:nvPr/>
        </p:nvSpPr>
        <p:spPr>
          <a:xfrm>
            <a:off x="548640" y="1783080"/>
            <a:ext cx="361188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adge 1"/>
          <p:cNvSpPr/>
          <p:nvPr/>
        </p:nvSpPr>
        <p:spPr>
          <a:xfrm>
            <a:off x="731520" y="1938528"/>
            <a:ext cx="411480" cy="411480"/>
          </a:xfrm>
          <a:prstGeom prst="ellipse">
            <a:avLst/>
          </a:prstGeom>
          <a:solidFill>
            <a:srgbClr val="38BDF8"/>
          </a:solidFill>
          <a:ln w="63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ResNet-18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from scratch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060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Model trained without pretrained weights.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 model parameters learned during training.</a:t>
            </a:r>
            <a:endParaRPr lang="en-US" sz="1400" dirty="0"/>
          </a:p>
        </p:txBody>
      </p:sp>
      <p:sp>
        <p:nvSpPr>
          <p:cNvPr id="10" name="Card – Model 2"/>
          <p:cNvSpPr/>
          <p:nvPr/>
        </p:nvSpPr>
        <p:spPr>
          <a:xfrm>
            <a:off x="4379976" y="1783080"/>
            <a:ext cx="361188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Badge 2"/>
          <p:cNvSpPr/>
          <p:nvPr/>
        </p:nvSpPr>
        <p:spPr>
          <a:xfrm>
            <a:off x="4562856" y="1938528"/>
            <a:ext cx="411480" cy="411480"/>
          </a:xfrm>
          <a:prstGeom prst="ellipse">
            <a:avLst/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62856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Frozen pretrained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ResNet-18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6060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Initialized with pretrained weights.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Feature extraction layers frozen.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Classification head trained for the five target classes.</a:t>
            </a:r>
            <a:endParaRPr lang="en-US" sz="1400" dirty="0"/>
          </a:p>
        </p:txBody>
      </p:sp>
      <p:sp>
        <p:nvSpPr>
          <p:cNvPr id="15" name="Card – Model 3"/>
          <p:cNvSpPr/>
          <p:nvPr/>
        </p:nvSpPr>
        <p:spPr>
          <a:xfrm>
            <a:off x="8211312" y="1783080"/>
            <a:ext cx="3611880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 3"/>
          <p:cNvSpPr/>
          <p:nvPr/>
        </p:nvSpPr>
        <p:spPr>
          <a:xfrm>
            <a:off x="8394192" y="1938528"/>
            <a:ext cx="411480" cy="411480"/>
          </a:xfrm>
          <a:prstGeom prst="ellipse">
            <a:avLst/>
          </a:prstGeom>
          <a:solidFill>
            <a:srgbClr val="F5A524"/>
          </a:solidFill>
          <a:ln w="6350">
            <a:solidFill>
              <a:srgbClr val="F5A5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94192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Fine-tuned pretrained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ResNet-18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260604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Initialized with pretrained weights.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Model parameters fine-tuned for the land-cover classification task.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WORKFLOW</a:t>
            </a:r>
            <a:endParaRPr lang="en-US" sz="1100" dirty="0"/>
          </a:p>
        </p:txBody>
      </p:sp>
      <p:sp>
        <p:nvSpPr>
          <p:cNvPr id="21" name="Workflow – Sentinel-2 RGB Image"/>
          <p:cNvSpPr/>
          <p:nvPr/>
        </p:nvSpPr>
        <p:spPr>
          <a:xfrm>
            <a:off x="548640" y="4727448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1792" y="472744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Sentinel-2 RGB Image</a:t>
            </a:r>
            <a:endParaRPr lang="en-US" sz="1400" dirty="0"/>
          </a:p>
        </p:txBody>
      </p:sp>
      <p:sp>
        <p:nvSpPr>
          <p:cNvPr id="23" name="Workflow arrow 1"/>
          <p:cNvSpPr/>
          <p:nvPr/>
        </p:nvSpPr>
        <p:spPr>
          <a:xfrm>
            <a:off x="2514600" y="5029200"/>
            <a:ext cx="320040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Workflow – Image Preprocessing"/>
          <p:cNvSpPr/>
          <p:nvPr/>
        </p:nvSpPr>
        <p:spPr>
          <a:xfrm>
            <a:off x="2880360" y="4727448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2953512" y="472744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Image Preprocessing</a:t>
            </a:r>
            <a:endParaRPr lang="en-US" sz="1400" dirty="0"/>
          </a:p>
        </p:txBody>
      </p:sp>
      <p:sp>
        <p:nvSpPr>
          <p:cNvPr id="26" name="Workflow arrow 2"/>
          <p:cNvSpPr/>
          <p:nvPr/>
        </p:nvSpPr>
        <p:spPr>
          <a:xfrm>
            <a:off x="4846320" y="5029200"/>
            <a:ext cx="320040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Workflow – ResNet-18"/>
          <p:cNvSpPr/>
          <p:nvPr/>
        </p:nvSpPr>
        <p:spPr>
          <a:xfrm>
            <a:off x="5212080" y="4727448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285232" y="472744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ResNet-18</a:t>
            </a:r>
            <a:endParaRPr lang="en-US" sz="1400" dirty="0"/>
          </a:p>
        </p:txBody>
      </p:sp>
      <p:sp>
        <p:nvSpPr>
          <p:cNvPr id="29" name="Workflow arrow 3"/>
          <p:cNvSpPr/>
          <p:nvPr/>
        </p:nvSpPr>
        <p:spPr>
          <a:xfrm>
            <a:off x="7178040" y="5029200"/>
            <a:ext cx="320040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Workflow – Feature Extraction and Classification"/>
          <p:cNvSpPr/>
          <p:nvPr/>
        </p:nvSpPr>
        <p:spPr>
          <a:xfrm>
            <a:off x="7543800" y="4727448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616952" y="472744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Feature Extraction and Classification</a:t>
            </a:r>
            <a:endParaRPr lang="en-US" sz="1400" dirty="0"/>
          </a:p>
        </p:txBody>
      </p:sp>
      <p:sp>
        <p:nvSpPr>
          <p:cNvPr id="32" name="Workflow arrow 4"/>
          <p:cNvSpPr/>
          <p:nvPr/>
        </p:nvSpPr>
        <p:spPr>
          <a:xfrm>
            <a:off x="9509760" y="5029200"/>
            <a:ext cx="320040" cy="27432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Workflow – Predicted Land-Cover Class"/>
          <p:cNvSpPr/>
          <p:nvPr/>
        </p:nvSpPr>
        <p:spPr>
          <a:xfrm>
            <a:off x="9875520" y="4727448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9948672" y="472744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Predicted Land-Cover Class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Evaluation: </a:t>
            </a:r>
            <a:r>
              <a:rPr lang="en-US" sz="1600" dirty="0">
                <a:solidFill>
                  <a:schemeClr val="bg1"/>
                </a:solidFill>
              </a:rPr>
              <a:t>Validation accuracy, test accuracy, precision, recall, F1-score.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07  ·  EXPERIMENTAL RESULTS: MODEL COMPARISON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Model Performance Comparison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Results obtained using the aligned 128×128 dataset.</a:t>
            </a:r>
            <a:endParaRPr lang="en-US" sz="1400" dirty="0"/>
          </a:p>
        </p:txBody>
      </p:sp>
      <p:sp>
        <p:nvSpPr>
          <p:cNvPr id="5" name="Panel – Chart"/>
          <p:cNvSpPr/>
          <p:nvPr/>
        </p:nvSpPr>
        <p:spPr>
          <a:xfrm>
            <a:off x="548640" y="1691640"/>
            <a:ext cx="7040880" cy="4251960"/>
          </a:xfrm>
          <a:prstGeom prst="roundRect">
            <a:avLst>
              <a:gd name="adj" fmla="val 2581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60167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</a:rPr>
              <a:t>Accuracy axis starts at 90%.</a:t>
            </a:r>
            <a:endParaRPr lang="en-US" sz="1100" dirty="0"/>
          </a:p>
        </p:txBody>
      </p:sp>
      <p:sp>
        <p:nvSpPr>
          <p:cNvPr id="8" name="Stat – Best test accuracy"/>
          <p:cNvSpPr/>
          <p:nvPr/>
        </p:nvSpPr>
        <p:spPr>
          <a:xfrm>
            <a:off x="7863840" y="1691640"/>
            <a:ext cx="377647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783080"/>
            <a:ext cx="3776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1"/>
                </a:solidFill>
              </a:rPr>
              <a:t>97.00%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578608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Best test accuracy</a:t>
            </a:r>
            <a:endParaRPr lang="en-US" sz="1400" dirty="0"/>
          </a:p>
        </p:txBody>
      </p:sp>
      <p:sp>
        <p:nvSpPr>
          <p:cNvPr id="11" name="Card – Key observations"/>
          <p:cNvSpPr/>
          <p:nvPr/>
        </p:nvSpPr>
        <p:spPr>
          <a:xfrm>
            <a:off x="7863840" y="3246120"/>
            <a:ext cx="3776472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046720" y="3355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observations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70332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All three configurations achieved strong classification performance.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Pretrained models outperformed the scratch-trained model on validation accuracy.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Fine-tuning produced the highest validation and test accuracy.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Fine-tuned ResNet-18 achieved 97.00% test accuracy.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08  ·  CLASS-WISE PERFORMANCE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Detailed Evaluation of the Fine-tuned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fine-tuned ResNet-18 model achieved the following class-wise results:</a:t>
            </a:r>
            <a:endParaRPr lang="en-US" sz="1400" dirty="0"/>
          </a:p>
        </p:txBody>
      </p:sp>
      <p:graphicFrame>
        <p:nvGraphicFramePr>
          <p:cNvPr id="9" name="Table – Class-wise metri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400800" cy="27432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Land-cover class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Precision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Recall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2DD4BF"/>
                          </a:solidFill>
                        </a:rPr>
                        <a:t>F1-score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Bare / Sparse Vegetation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97.50%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100.00%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98.73%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Built-up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98.55%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100.00%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99.27%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Cropland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91.78%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95.71%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93.71%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Permanent Water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98.73%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97.50%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98.11%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Tree Cover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98.48%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91.55%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2DD4BF"/>
                          </a:solidFill>
                        </a:rPr>
                        <a:t>94.89%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1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tat – Macro F1-score"/>
          <p:cNvSpPr/>
          <p:nvPr/>
        </p:nvSpPr>
        <p:spPr>
          <a:xfrm>
            <a:off x="548640" y="47091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94360" y="48188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96.94%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Macro F1-score</a:t>
            </a:r>
            <a:endParaRPr lang="en-US" sz="1300" dirty="0"/>
          </a:p>
        </p:txBody>
      </p:sp>
      <p:sp>
        <p:nvSpPr>
          <p:cNvPr id="5" name="Stat – Weighted F1-score"/>
          <p:cNvSpPr/>
          <p:nvPr/>
        </p:nvSpPr>
        <p:spPr>
          <a:xfrm>
            <a:off x="2743200" y="47091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2788920" y="48188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97.00%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Weighted F1-score</a:t>
            </a:r>
            <a:endParaRPr lang="en-US" sz="1300" dirty="0"/>
          </a:p>
        </p:txBody>
      </p:sp>
      <p:sp>
        <p:nvSpPr>
          <p:cNvPr id="12" name="Stat – Correct test predictions"/>
          <p:cNvSpPr/>
          <p:nvPr/>
        </p:nvSpPr>
        <p:spPr>
          <a:xfrm>
            <a:off x="4937760" y="4709160"/>
            <a:ext cx="2011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983480" y="481888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356 / 367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5440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Correct test predictions</a:t>
            </a:r>
            <a:endParaRPr lang="en-US" sz="1300" dirty="0"/>
          </a:p>
        </p:txBody>
      </p:sp>
      <p:sp>
        <p:nvSpPr>
          <p:cNvPr id="15" name="Panel – F1 chart"/>
          <p:cNvSpPr/>
          <p:nvPr/>
        </p:nvSpPr>
        <p:spPr>
          <a:xfrm>
            <a:off x="7269480" y="1280160"/>
            <a:ext cx="4370832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Chart 0"/>
          <p:cNvGraphicFramePr/>
          <p:nvPr/>
        </p:nvGraphicFramePr>
        <p:xfrm>
          <a:off x="7315200" y="1325880"/>
          <a:ext cx="42793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7269480" y="425196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observations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7269480" y="4590288"/>
            <a:ext cx="43708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Built-up achieved the highest F1-score.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Bare / Sparse Vegetation achieved 100% recall.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Cropland had the lowest F1-score among the five classes.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Tree Cover had the lowest recall, indicating some missed tree-cover samples.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8234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09  ·  APPLICATION AND DEMONSTRATION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Interactive Land-Cover Classification Application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Streamlit-based web application.  </a:t>
            </a:r>
            <a:r>
              <a:rPr lang="en-US" sz="1500" dirty="0">
                <a:solidFill>
                  <a:schemeClr val="bg1"/>
                </a:solidFill>
              </a:rPr>
              <a:t>The application provides an interface for users to submit satellite image patches and obtain land-cover predictions from the trained classification model.</a:t>
            </a:r>
            <a:endParaRPr lang="en-US" sz="1500" dirty="0"/>
          </a:p>
        </p:txBody>
      </p:sp>
      <p:sp>
        <p:nvSpPr>
          <p:cNvPr id="5" name="Placeholder – App screenshot"/>
          <p:cNvSpPr/>
          <p:nvPr/>
        </p:nvSpPr>
        <p:spPr>
          <a:xfrm>
            <a:off x="548640" y="2103120"/>
            <a:ext cx="5943600" cy="3611880"/>
          </a:xfrm>
          <a:prstGeom prst="roundRect">
            <a:avLst>
              <a:gd name="adj" fmla="val 202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Placeholder – Uploaded image screenshot"/>
          <p:cNvSpPr/>
          <p:nvPr/>
        </p:nvSpPr>
        <p:spPr>
          <a:xfrm>
            <a:off x="6766560" y="2103120"/>
            <a:ext cx="4873752" cy="1719072"/>
          </a:xfrm>
          <a:prstGeom prst="roundRect">
            <a:avLst>
              <a:gd name="adj" fmla="val 4255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Placeholder – Prediction screenshot"/>
          <p:cNvSpPr/>
          <p:nvPr/>
        </p:nvSpPr>
        <p:spPr>
          <a:xfrm>
            <a:off x="6766560" y="3995928"/>
            <a:ext cx="4873752" cy="1719072"/>
          </a:xfrm>
          <a:prstGeom prst="roundRect">
            <a:avLst>
              <a:gd name="adj" fmla="val 4255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2DD4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k – Streamlit app"/>
          <p:cNvSpPr/>
          <p:nvPr/>
        </p:nvSpPr>
        <p:spPr>
          <a:xfrm>
            <a:off x="548640" y="58978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  </a:t>
            </a:r>
            <a:r>
              <a:rPr lang="en-US" sz="1200" b="1" u="sng" dirty="0">
                <a:solidFill>
                  <a:srgbClr val="000000"/>
                </a:solidFill>
                <a:hlinkClick r:id="rId6" tooltip="https://example.com/replace-with-streamlit-app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Streamlit Application</a:t>
            </a:r>
            <a:endParaRPr lang="en-US" sz="1200" dirty="0"/>
          </a:p>
        </p:txBody>
      </p:sp>
      <p:sp>
        <p:nvSpPr>
          <p:cNvPr id="15" name="Link – GitHub"/>
          <p:cNvSpPr/>
          <p:nvPr/>
        </p:nvSpPr>
        <p:spPr>
          <a:xfrm>
            <a:off x="4572000" y="589788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  </a:t>
            </a:r>
            <a:r>
              <a:rPr lang="en-US" sz="1200" b="1" u="sng" dirty="0">
                <a:solidFill>
                  <a:srgbClr val="000000"/>
                </a:solidFill>
                <a:hlinkClick r:id="rId7" tooltip="https://example.com/replace-with-github-repo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Project on GitHub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10  ·  APPLICATIONS, LIMITATIONS AND CONCLUSION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Future Directions</a:t>
            </a:r>
            <a:endParaRPr lang="en-US" sz="3000" dirty="0"/>
          </a:p>
        </p:txBody>
      </p:sp>
      <p:sp>
        <p:nvSpPr>
          <p:cNvPr id="4" name="Card – Potential applications"/>
          <p:cNvSpPr/>
          <p:nvPr/>
        </p:nvSpPr>
        <p:spPr>
          <a:xfrm>
            <a:off x="548640" y="1409299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270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Potential applications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Land-use and land-cover monitoring.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Agricultural land assessment.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Urban expansion analysis.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Environmental monitoring.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Water-body identification.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These are potential applications of the classification approach, not claims that the system has already been deployed for these purposes.</a:t>
            </a:r>
            <a:endParaRPr lang="en-US" sz="1200" dirty="0"/>
          </a:p>
        </p:txBody>
      </p:sp>
      <p:sp>
        <p:nvSpPr>
          <p:cNvPr id="8" name="Card – Limitations"/>
          <p:cNvSpPr/>
          <p:nvPr/>
        </p:nvSpPr>
        <p:spPr>
          <a:xfrm>
            <a:off x="3931920" y="1417320"/>
            <a:ext cx="448056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114800" y="1527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892808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Classification is restricted to five land-cover categories.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dataset contains 2,500 selected image patches.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Resampling to 128×128 does not increase native spatial detail.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model's performance may vary on geographical regions or imagery not represented in the dataset.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Further evaluation on independent geographical areas would help assess generalization.</a:t>
            </a:r>
            <a:endParaRPr lang="en-US" sz="1400" dirty="0"/>
          </a:p>
        </p:txBody>
      </p:sp>
      <p:sp>
        <p:nvSpPr>
          <p:cNvPr id="11" name="Card – Future work"/>
          <p:cNvSpPr/>
          <p:nvPr/>
        </p:nvSpPr>
        <p:spPr>
          <a:xfrm>
            <a:off x="8595360" y="1417320"/>
            <a:ext cx="3044952" cy="3200400"/>
          </a:xfrm>
          <a:prstGeom prst="roundRect">
            <a:avLst>
              <a:gd name="adj" fmla="val 3604"/>
            </a:avLst>
          </a:prstGeom>
          <a:solidFill>
            <a:schemeClr val="tx2"/>
          </a:solidFill>
          <a:ln w="9525">
            <a:solidFill>
              <a:srgbClr val="2B41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778240" y="15270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Future work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0" y="1892808"/>
            <a:ext cx="2697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Expand the dataset with more geographical locations.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Introduce additional land-cover categories.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Evaluate generalization on unseen regions.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Explore more advanced deep learning architectures.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Improve the interactive application.</a:t>
            </a:r>
            <a:endParaRPr lang="en-US" sz="1400" dirty="0"/>
          </a:p>
        </p:txBody>
      </p:sp>
      <p:sp>
        <p:nvSpPr>
          <p:cNvPr id="14" name="Card – Conclusion"/>
          <p:cNvSpPr/>
          <p:nvPr/>
        </p:nvSpPr>
        <p:spPr>
          <a:xfrm>
            <a:off x="548640" y="4773168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77240" y="4773168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4773168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This project demonstrates the use of transfer learning with ResNet-18 for Sentinel-2 land-cover classification. The fine-tuned pretrained model achieved 97.00% test accuracy across five land-cover categories, demonstrating the potential of deep learning for automated satellite-image interpretation.</a:t>
            </a:r>
            <a:endParaRPr lang="en-US" sz="1400" dirty="0"/>
          </a:p>
        </p:txBody>
      </p:sp>
      <p:sp>
        <p:nvSpPr>
          <p:cNvPr id="17" name="Link – Streamlit application:"/>
          <p:cNvSpPr/>
          <p:nvPr/>
        </p:nvSpPr>
        <p:spPr>
          <a:xfrm>
            <a:off x="548640" y="5961888"/>
            <a:ext cx="2697480" cy="365760"/>
          </a:xfrm>
          <a:prstGeom prst="roundRect">
            <a:avLst>
              <a:gd name="adj" fmla="val 25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Streamlit application:  </a:t>
            </a:r>
            <a:r>
              <a:rPr lang="en-US" sz="1200" b="1" u="sng" dirty="0">
                <a:solidFill>
                  <a:srgbClr val="000000"/>
                </a:solidFill>
                <a:hlinkClick r:id="rId3" tooltip="https://example.com/replace-with-streamlit-app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1200" dirty="0"/>
          </a:p>
        </p:txBody>
      </p:sp>
      <p:sp>
        <p:nvSpPr>
          <p:cNvPr id="18" name="Link – GitHub repository:"/>
          <p:cNvSpPr/>
          <p:nvPr/>
        </p:nvSpPr>
        <p:spPr>
          <a:xfrm>
            <a:off x="3346704" y="5961888"/>
            <a:ext cx="2697480" cy="365760"/>
          </a:xfrm>
          <a:prstGeom prst="roundRect">
            <a:avLst>
              <a:gd name="adj" fmla="val 25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GitHub repository:  </a:t>
            </a:r>
            <a:r>
              <a:rPr lang="en-US" sz="1200" b="1" u="sng" dirty="0">
                <a:solidFill>
                  <a:srgbClr val="000000"/>
                </a:solidFill>
                <a:hlinkClick r:id="rId4" tooltip="https://example.com/replace-with-github-repo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</a:t>
            </a:r>
            <a:endParaRPr lang="en-US" sz="1200" dirty="0"/>
          </a:p>
        </p:txBody>
      </p:sp>
      <p:sp>
        <p:nvSpPr>
          <p:cNvPr id="19" name="Link – Kaggle dataset:"/>
          <p:cNvSpPr/>
          <p:nvPr/>
        </p:nvSpPr>
        <p:spPr>
          <a:xfrm>
            <a:off x="6144768" y="5961888"/>
            <a:ext cx="2697480" cy="365760"/>
          </a:xfrm>
          <a:prstGeom prst="roundRect">
            <a:avLst>
              <a:gd name="adj" fmla="val 25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Kaggle dataset:  </a:t>
            </a:r>
            <a:r>
              <a:rPr lang="en-US" sz="1200" b="1" u="sng" dirty="0">
                <a:solidFill>
                  <a:srgbClr val="000000"/>
                </a:solidFill>
                <a:hlinkClick r:id="rId5" tooltip="https://example.com/replace-with-kaggle-dataset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endParaRPr lang="en-US" sz="1200" dirty="0"/>
          </a:p>
        </p:txBody>
      </p:sp>
      <p:sp>
        <p:nvSpPr>
          <p:cNvPr id="20" name="Link – Google Drive:"/>
          <p:cNvSpPr/>
          <p:nvPr/>
        </p:nvSpPr>
        <p:spPr>
          <a:xfrm>
            <a:off x="8942832" y="5961888"/>
            <a:ext cx="2697480" cy="365760"/>
          </a:xfrm>
          <a:prstGeom prst="roundRect">
            <a:avLst>
              <a:gd name="adj" fmla="val 25000"/>
            </a:avLst>
          </a:prstGeom>
          <a:solidFill>
            <a:srgbClr val="D9F7F2"/>
          </a:solidFill>
          <a:ln w="12700">
            <a:solidFill>
              <a:srgbClr val="2DD4B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</a:rPr>
              <a:t>Google Drive:  </a:t>
            </a:r>
            <a:r>
              <a:rPr lang="en-US" sz="1200" b="1" u="sng" dirty="0">
                <a:solidFill>
                  <a:srgbClr val="000000"/>
                </a:solidFill>
                <a:hlinkClick r:id="rId6" tooltip="https://example.com/replace-with-google-drive-ur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 Files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55664"/>
            <a:ext cx="667512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spatial Navy">
  <a:themeElements>
    <a:clrScheme name="Geospatial Navy">
      <a:dk1>
        <a:srgbClr val="0A1128"/>
      </a:dk1>
      <a:lt1>
        <a:srgbClr val="FFFFFF"/>
      </a:lt1>
      <a:dk2>
        <a:srgbClr val="16254A"/>
      </a:dk2>
      <a:lt2>
        <a:srgbClr val="B4C2DC"/>
      </a:lt2>
      <a:accent1>
        <a:srgbClr val="2DD4BF"/>
      </a:accent1>
      <a:accent2>
        <a:srgbClr val="38BDF8"/>
      </a:accent2>
      <a:accent3>
        <a:srgbClr val="F5A524"/>
      </a:accent3>
      <a:accent4>
        <a:srgbClr val="4ADE80"/>
      </a:accent4>
      <a:accent5>
        <a:srgbClr val="F87171"/>
      </a:accent5>
      <a:accent6>
        <a:srgbClr val="C8A27C"/>
      </a:accent6>
      <a:hlink>
        <a:srgbClr val="0F766E"/>
      </a:hlink>
      <a:folHlink>
        <a:srgbClr val="4C1D95"/>
      </a:folHlink>
    </a:clrScheme>
    <a:fontScheme name="Geospatia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1014</Words>
  <Application>Microsoft Office PowerPoint</Application>
  <PresentationFormat>Widescreen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Geospatial Navy</vt:lpstr>
      <vt:lpstr>Satellite-Based Land-Cover Classification Using Transfer Learning</vt:lpstr>
      <vt:lpstr>Understanding Land Cover Through Satellite Imagery</vt:lpstr>
      <vt:lpstr>Dataset Overview</vt:lpstr>
      <vt:lpstr>Five Land-Cover Classes</vt:lpstr>
      <vt:lpstr>Dataset Preparation</vt:lpstr>
      <vt:lpstr>Deep Learning Approach</vt:lpstr>
      <vt:lpstr>Model Performance Comparison</vt:lpstr>
      <vt:lpstr>Detailed Evaluation of the Fine-tuned Model</vt:lpstr>
      <vt:lpstr>Interactive Land-Cover Classification Application</vt:lpstr>
      <vt:lpstr>Conclusion and Future Directions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Satellite-Based Land-Cover Classification Using Transfer Learning</dc:title>
  <dc:subject>PptxGenJS Presentation</dc:subject>
  <dc:creator>Zimran Sohail</dc:creator>
  <cp:lastModifiedBy>Zimran Sohail</cp:lastModifiedBy>
  <cp:revision>7</cp:revision>
  <dcterms:created xsi:type="dcterms:W3CDTF">2026-10-30T14:28:16Z</dcterms:created>
  <dcterms:modified xsi:type="dcterms:W3CDTF">2026-10-30T20:12:17Z</dcterms:modified>
</cp:coreProperties>
</file>